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59" r:id="rId6"/>
    <p:sldId id="260" r:id="rId7"/>
    <p:sldId id="261" r:id="rId8"/>
    <p:sldId id="265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arsayılan Bölüm" id="{847B296B-6B37-4ADC-B1D0-E6F3C580C4E2}">
          <p14:sldIdLst>
            <p14:sldId id="256"/>
            <p14:sldId id="257"/>
            <p14:sldId id="258"/>
            <p14:sldId id="264"/>
            <p14:sldId id="259"/>
            <p14:sldId id="260"/>
            <p14:sldId id="261"/>
            <p14:sldId id="265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6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ADB5"/>
                </a:solidFill>
                <a:latin typeface="Segoe UI"/>
              </a:defRPr>
            </a:pPr>
            <a:r>
              <a:t>MAKİNE ÖĞRENMESİ İLE</a:t>
            </a:r>
            <a:br/>
            <a:r>
              <a:t>AKILLI TELEFON BAĞIMLILIĞI ANALİZİ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i="1">
                <a:solidFill>
                  <a:srgbClr val="EEEEEE"/>
                </a:solidFill>
                <a:latin typeface="Segoe UI"/>
              </a:defRPr>
            </a:pPr>
            <a:r>
              <a:rPr dirty="0"/>
              <a:t>KNN ve SVM Modellerinin Karşılaştırmalı Performans İncelemesi</a:t>
            </a:r>
            <a:br>
              <a:rPr dirty="0"/>
            </a:br>
            <a:br>
              <a:rPr dirty="0"/>
            </a:br>
            <a:endParaRPr dirty="0"/>
          </a:p>
          <a:p>
            <a:pPr algn="ctr">
              <a:defRPr sz="2000" i="0">
                <a:solidFill>
                  <a:srgbClr val="EEEEEE"/>
                </a:solidFill>
                <a:latin typeface="Segoe UI"/>
              </a:defRPr>
            </a:pPr>
            <a:r>
              <a:rPr dirty="0"/>
              <a:t>Kütahya Dumlupınar Üniversitesi</a:t>
            </a:r>
          </a:p>
          <a:p>
            <a:pPr algn="ctr">
              <a:defRPr sz="2000" i="0">
                <a:solidFill>
                  <a:srgbClr val="EEEEEE"/>
                </a:solidFill>
                <a:latin typeface="Segoe UI"/>
              </a:defRPr>
            </a:pPr>
            <a:r>
              <a:rPr dirty="0"/>
              <a:t>Elektrik-Elektronik Mühendisliği</a:t>
            </a:r>
            <a:endParaRPr lang="tr-TR" dirty="0"/>
          </a:p>
          <a:p>
            <a:pPr algn="ctr">
              <a:defRPr sz="2000" i="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Hazırlayan: Yunus Emre Temel</a:t>
            </a:r>
          </a:p>
          <a:p>
            <a:pPr algn="ctr">
              <a:defRPr sz="2000" i="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Numara: 202313151051</a:t>
            </a:r>
          </a:p>
          <a:p>
            <a:pPr algn="ctr">
              <a:defRPr sz="2000" i="0">
                <a:solidFill>
                  <a:srgbClr val="EEEEEE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Projenin Amacı ve Kapsamı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51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Gelişen teknolojiyle birlikte artan ekran süreleri ve dijital bağımlılık problemlerini analiz etmek.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Kullanıcıların demografik ve günlük telefon kullanım alışkanlıklarından yola çıkarak 'Bağımlılık Seviyelerini' tahmin edebilen yapay zeka modelleri geliştirmek.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Veri biliminde temel kabul edilen iki güçlü algoritmanın sınıflandırma yeteneklerini karşılaştırmak: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K-En Yakın Komşu (K-Nearest Neighbors - KNN)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Destek Vektör Makineleri (Support Vector Machines - SVM)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Veri Setinin Analizi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Veri Kaynağı: Kaggle - Smartphone Usage and Addiction Analysis Dataset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Örneklem Büyüklüğü: Kapsamlı bir model eğitimi için veri setindeki 5000 satırlık verinin tamamı kullanılmıştır.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Bağımsız Değişkenler (Özellikler):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</a:t>
            </a:r>
            <a:r>
              <a:rPr lang="tr-TR" dirty="0"/>
              <a:t>  </a:t>
            </a:r>
            <a:r>
              <a:rPr dirty="0"/>
              <a:t>• Günlük ekran süresi, veri kullanımı, yaş, cinsiyet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</a:t>
            </a:r>
            <a:r>
              <a:rPr lang="tr-TR" dirty="0"/>
              <a:t>  </a:t>
            </a:r>
            <a:r>
              <a:rPr dirty="0"/>
              <a:t>• İşletim sistemi platformu (iOS / Android)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Bağımlı Değişken (Hedef): </a:t>
            </a:r>
            <a:endParaRPr lang="tr-TR" dirty="0"/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     • Kullanıcının bağımlılık seviyesi (</a:t>
            </a:r>
            <a:r>
              <a:rPr dirty="0"/>
              <a:t>addiction_level</a:t>
            </a:r>
            <a:r>
              <a:rPr lang="tr-TR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1992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rPr lang="tr-TR" dirty="0"/>
              <a:t>Modeli Eğiten Kritik Değişkenler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59606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Veri setimiz; yaş, cinsiyet ve uygulama kullanım süreleri gibi toplam 16 farklı başlıktan (değişken) oluşmaktadır. Modeli eğitirken kullandığımız en kritik özellikler şunlardır: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     • Günlük ekran süresi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     • Etkileşim sıklığı (Bildirimler &amp; Uygulama açma)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     • Sosyal medya ve oyun kullanım süreleri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     • Uyku süresi ve stres seviyesi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sz="2200" dirty="0">
                <a:solidFill>
                  <a:srgbClr val="EEEEEE"/>
                </a:solidFill>
                <a:latin typeface="Segoe UI"/>
              </a:rPr>
              <a:t>     • Akademik / İş hayatına etkisi   </a:t>
            </a:r>
          </a:p>
          <a:p>
            <a:endParaRPr lang="tr-TR" sz="2400" dirty="0">
              <a:solidFill>
                <a:schemeClr val="bg1"/>
              </a:solidFill>
            </a:endParaRPr>
          </a:p>
          <a:p>
            <a:endParaRPr lang="tr-TR" sz="2200" dirty="0">
              <a:solidFill>
                <a:schemeClr val="bg1"/>
              </a:solidFill>
              <a:latin typeface="Segoe UI" panose="020B0502040204020203" pitchFamily="34" charset="0"/>
              <a:ea typeface="Segoe UI Black" panose="020B0A02040204020203" pitchFamily="34" charset="0"/>
              <a:cs typeface="Segoe UI" panose="020B0502040204020203" pitchFamily="34" charset="0"/>
            </a:endParaRP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lang="tr-TR" dirty="0"/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lang="tr-TR" dirty="0"/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302477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Veri Ön İşleme (Preprocessing)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3755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Modellerin doğru ve verimli çalışması için uygulanan adımlar: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1. Veri Temizliği: Modelin öğrenmesine katkı sağlamayan 'user_id' sütunu veri setinden çıkarıldı.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2. Sayısal Dönüşüm: Kategorik metin verileri (Kadın/Erkek vb.) sayılara çevrildi (One-Hot &amp; Label Encoding).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3. Veri Bölünmesi: 5000 verinin %80'i eğitim (4000 adet veri), %20'si ise test (1000 adet veri) amacıyla ayrıldı.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4. Ölçeklendirme (Scaling): Yaş ile ekran süresi gibi farklı birimler StandardScaler ile aynı düzleme çekildi.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Kullanılan Algoritmaların Mantığı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K-En Yakın Komşu (KNN):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Mesafe tabanlı, 'tembel öğrenme' algoritmasıdır.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Yeni bir veriyi sınıflandırırken, haritadaki en yakın K adet (K=5) komşusuna bakar ve çoğunluğun sınıfına dahil eder.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Destek Vektör Makineleri (SVM):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Verileri çok boyutlu bir uzaya taşır.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Farklı bağımlılık seviyelerini birbirinden en net şekilde ayıran optimum matematiksel sınırı (Hyperplane) çizmeyi hedefler (kernel='linear').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Doğruluk Oranları (Accuracy) Neden Farklı?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Her iki model aynı 4000 veriden öğrenip aynı 1000 veriyle test edilmesine rağmen farklı oranlar üretir: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KNN doğruluk oranı: %54.6 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SVM doğruluk oranı: %55.3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Bölgesel vs Global Yaklaşım: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KNN sadece hedef verinin etrafındaki dar alana (komşulara) bakar. İç içe geçmiş veya gürültülü verilerde hataya yatkındır.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SVM ise verinin tamamına bakarak genel bir kural (çizgi) belirler. Bu nedenle özelliklerin iyi ölçeklendirildiği tablolarda genellikle daha stabil sınıflandırma yapar.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Karmaşıklık Matrisi (Confusion Matrix)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213452" cy="2930071"/>
          </a:xfrm>
          <a:prstGeom prst="rect">
            <a:avLst/>
          </a:prstGeom>
        </p:spPr>
      </p:pic>
      <p:pic>
        <p:nvPicPr>
          <p:cNvPr id="8" name="Resim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398" y="1828800"/>
            <a:ext cx="4317255" cy="2930071"/>
          </a:xfrm>
          <a:prstGeom prst="rect">
            <a:avLst/>
          </a:prstGeom>
        </p:spPr>
      </p:pic>
      <p:sp>
        <p:nvSpPr>
          <p:cNvPr id="15" name="Metin kutusu 14"/>
          <p:cNvSpPr txBox="1"/>
          <p:nvPr/>
        </p:nvSpPr>
        <p:spPr>
          <a:xfrm>
            <a:off x="1495000" y="5086905"/>
            <a:ext cx="42134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• Doğru Tahmin Sayısı: 546</a:t>
            </a:r>
          </a:p>
          <a:p>
            <a:r>
              <a:rPr lang="tr-TR" dirty="0">
                <a:solidFill>
                  <a:schemeClr val="bg1"/>
                </a:solidFill>
              </a:rPr>
              <a:t>• Yanlış Tahmin Sayısı: 454</a:t>
            </a:r>
          </a:p>
        </p:txBody>
      </p:sp>
      <p:sp>
        <p:nvSpPr>
          <p:cNvPr id="16" name="Metin kutusu 15"/>
          <p:cNvSpPr txBox="1"/>
          <p:nvPr/>
        </p:nvSpPr>
        <p:spPr>
          <a:xfrm>
            <a:off x="7874745" y="5086905"/>
            <a:ext cx="43172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solidFill>
                  <a:schemeClr val="bg1"/>
                </a:solidFill>
              </a:rPr>
              <a:t>• Doğru Tahmin Sayısı: 553</a:t>
            </a:r>
          </a:p>
          <a:p>
            <a:r>
              <a:rPr lang="tr-TR" dirty="0">
                <a:solidFill>
                  <a:schemeClr val="bg1"/>
                </a:solidFill>
              </a:rPr>
              <a:t>• Yanlış Tahmin Sayısı: 447</a:t>
            </a:r>
          </a:p>
        </p:txBody>
      </p:sp>
    </p:spTree>
    <p:extLst>
      <p:ext uri="{BB962C8B-B14F-4D97-AF65-F5344CB8AC3E}">
        <p14:creationId xmlns:p14="http://schemas.microsoft.com/office/powerpoint/2010/main" val="2395523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t>Karmaşıklık Matrisi (Confusion Matrix)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Genel doğruluk oranı modelin genel başarısını gösterirken, Karmaşıklık Matrisi detaylı bir hata röntgeni çeker.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• Toplam Test Verisi: Her iki matristeki tüm kutuların toplamı tam olarak 1000 kullanıcıyı (Test Verisi) verir.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• Doğru Tahmin Sayıları (Diyagonal Eksen): Matrisin sol üst köşesinden sağ alt köşesine uzanan çapraz kutulardaki sayıların toplamı, o modelin 1000 </a:t>
            </a:r>
            <a:r>
              <a:rPr lang="tr-TR" dirty="0"/>
              <a:t>veri</a:t>
            </a:r>
            <a:r>
              <a:rPr dirty="0"/>
              <a:t> içindeki 'tam olarak doğru bildiği' veri sayısını ifade eder.</a:t>
            </a:r>
          </a:p>
          <a:p>
            <a:pPr algn="just"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• Hatalı Tahminler: Çapraz eksenin dışında kalan sayılar, algoritmaların hangi sınıfları birbirine karıştırdığını (False Positive / False Negative) gösterir.</a:t>
            </a: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0412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DB5"/>
                </a:solidFill>
                <a:latin typeface="Segoe UI"/>
              </a:defRPr>
            </a:pPr>
            <a:r>
              <a:rPr dirty="0"/>
              <a:t>Sonuç ve </a:t>
            </a:r>
            <a:r>
              <a:rPr lang="tr-TR" dirty="0"/>
              <a:t>Yapılabilecek İyileştirmeler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28800" cy="4572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037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Sonuç Değerlendirmesi:</a:t>
            </a: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Bu veri seti ve özellik yapısı üzerinde yapılan testlerde, oluşturulan iki modelin başarım oranları karşılaştırılmış ve farklı sınıflandırma yetenekleri analiz edilmiştir.</a:t>
            </a: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endParaRPr dirty="0"/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lang="tr-TR" dirty="0"/>
              <a:t>Yapılabilecek İyileştirmeler </a:t>
            </a:r>
            <a:r>
              <a:rPr dirty="0"/>
              <a:t>:</a:t>
            </a: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KNN için farklı 'K' komşu değerleri test edilerek (Hyperparameter Tuning) başarım artırılabilir.</a:t>
            </a:r>
          </a:p>
          <a:p>
            <a:pPr>
              <a:spcAft>
                <a:spcPts val="1400"/>
              </a:spcAft>
              <a:defRPr sz="2200">
                <a:solidFill>
                  <a:srgbClr val="EEEEEE"/>
                </a:solidFill>
                <a:latin typeface="Segoe UI"/>
              </a:defRPr>
            </a:pPr>
            <a:r>
              <a:rPr dirty="0"/>
              <a:t>   • Sınıflandırmayı etkileyen en önemli özellikler analiz edilerek (Feature Importance) model daha optimize bir hale getirilebilir.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</TotalTime>
  <Words>696</Words>
  <Application>Microsoft Office PowerPoint</Application>
  <PresentationFormat>Geniş ekran</PresentationFormat>
  <Paragraphs>73</Paragraphs>
  <Slides>10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Black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>Yunus Emre Temel</dc:creator>
  <cp:keywords/>
  <dc:description>generated using python-pptx</dc:description>
  <cp:lastModifiedBy>Yunus Emre Temel</cp:lastModifiedBy>
  <cp:revision>16</cp:revision>
  <dcterms:created xsi:type="dcterms:W3CDTF">2013-01-27T09:14:16Z</dcterms:created>
  <dcterms:modified xsi:type="dcterms:W3CDTF">2026-05-11T21:39:41Z</dcterms:modified>
  <cp:category/>
</cp:coreProperties>
</file>